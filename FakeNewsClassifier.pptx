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4F8EFF"/>
            </a:solidFill>
          </c:spPr>
          <c:cat>
            <c:strRef>
              <c:f>Sheet1!$A$2:$A$9</c:f>
              <c:strCache>
                <c:ptCount val="8"/>
                <c:pt idx="0">
                  <c:v>LR (BoW)</c:v>
                </c:pt>
                <c:pt idx="1">
                  <c:v>NB (BoW)</c:v>
                </c:pt>
                <c:pt idx="2">
                  <c:v>LinSVC (TF-IDF)</c:v>
                </c:pt>
                <c:pt idx="3">
                  <c:v>RF (TF-IDF)</c:v>
                </c:pt>
                <c:pt idx="4">
                  <c:v>MiniLM Emb+LR</c:v>
                </c:pt>
                <c:pt idx="5">
                  <c:v>DistilBERT Emb+LR</c:v>
                </c:pt>
                <c:pt idx="6">
                  <c:v>DistilBERT FT</c:v>
                </c:pt>
                <c:pt idx="7">
                  <c:v>Ensemble (Final)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0.943</c:v>
                </c:pt>
                <c:pt idx="1">
                  <c:v>0.937</c:v>
                </c:pt>
                <c:pt idx="2">
                  <c:v>0.945</c:v>
                </c:pt>
                <c:pt idx="3">
                  <c:v>0.93</c:v>
                </c:pt>
                <c:pt idx="4">
                  <c:v>0.951</c:v>
                </c:pt>
                <c:pt idx="5">
                  <c:v>0.96</c:v>
                </c:pt>
                <c:pt idx="6">
                  <c:v>0.9961</c:v>
                </c:pt>
                <c:pt idx="7">
                  <c:v>0.9961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A9BC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A9BC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274319"/>
            <a:ext cx="1645920" cy="164592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4023360"/>
            <a:ext cx="2011680" cy="201168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5029200"/>
            <a:ext cx="9144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FAKE NEWS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NLP Classification using DistilBERT Embeddings, Fine-Tuning &amp; Ensemble Methods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63240"/>
            <a:ext cx="50292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C4"/>
                </a:solidFill>
                <a:latin typeface="Calibri"/>
              </a:rPr>
              <a:t>Charleson  ·  Pavithra  ·  Sara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C4"/>
                </a:solidFill>
                <a:latin typeface="Calibri"/>
              </a:rPr>
              <a:t>NLP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Dataset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12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34,152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828800"/>
            <a:ext cx="2560320" cy="13716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Best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212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DE80"/>
                </a:solidFill>
                <a:latin typeface="Calibri"/>
              </a:rPr>
              <a:t>99.61%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Best 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2212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DE80"/>
                </a:solidFill>
                <a:latin typeface="Calibri"/>
              </a:rPr>
              <a:t>0.9961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828800"/>
            <a:ext cx="2560320" cy="13716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Final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212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8EFF"/>
                </a:solidFill>
                <a:latin typeface="Calibri"/>
              </a:rP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  •  Binary classification: Label 0 = Fake  |  Label 1 = Real</a:t>
            </a:r>
          </a:p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  •  Dataset pre-lowercased; titles used as primary feature</a:t>
            </a:r>
          </a:p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  •  Preprocessing experiments showed raw text outperformed stemming &amp; lemmatisation</a:t>
            </a:r>
          </a:p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  •  Progression: Baseline classifiers → Embeddings → Fine-Tuning → Ensemble</a:t>
            </a:r>
          </a:p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  •  Final model: DistilBERT Embedding + DistilBERT Fine-Tuned ensembled with LinearSVC &amp; Logistic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Model Accuracy Progression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371600"/>
          <a:ext cx="114300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Training CSV (tab-separated)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92807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751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751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34,152 samples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3432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 = Fake  |  1 =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16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16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Title / headline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Pre-lowercased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236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Yes — dataset already in lowercase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657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80 % train  /  20 %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95928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782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C4"/>
                </a:solidFill>
                <a:latin typeface="Calibri"/>
              </a:rPr>
              <a:t>Missing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0782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Filled with empty string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16552"/>
            <a:ext cx="7863840" cy="9144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Class Balance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057400"/>
            <a:ext cx="2743200" cy="457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2057400"/>
            <a:ext cx="1371600" cy="457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2103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Fake  ~50%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697480"/>
            <a:ext cx="2743200" cy="457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2697480"/>
            <a:ext cx="1371600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  ~50%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337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C4"/>
                </a:solidFill>
                <a:latin typeface="Calibri"/>
              </a:rPr>
              <a:t>Balanced dataset — no class weighting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PRE-PROCESSING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Raw Text Outperformed Processed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512064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73152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55"/>
                </a:solidFill>
                <a:latin typeface="Calibri"/>
              </a:rPr>
              <a:t>Stopword
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Removes common words like "the", "is", "at"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In fake news, function words &amp; sentence structure carry signal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Removing them erases stylistic cues the model relies on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Result: accuracy dropped vs. raw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512064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57600" cy="73152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361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55"/>
                </a:solidFill>
                <a:latin typeface="Calibri"/>
              </a:rPr>
              <a:t>Stemming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Strips suffixes: "running" to "run"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Over-aggressive — collapses semantically distinct words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News headlines already short; further compression loses meaning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Introduced noise in BoW &amp; TF-IDF feature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512064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73152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361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55"/>
                </a:solidFill>
                <a:latin typeface="Calibri"/>
              </a:rPr>
              <a:t>Lemmatisation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Maps to dictionary form: "better" to "good"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More accurate than stemming but still loses inflection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DistilBERT's WordPiece tokeniser handles morphology internally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Pre-lemmatising before BERT removes info the model was trained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C4"/>
                </a:solidFill>
                <a:latin typeface="Calibri"/>
              </a:rPr>
              <a:t>Conclusion: clean_text (punctuation removed, lowercased) fed directly to vectorisers and DistilBERT gave best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MODEL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743200" cy="49377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743200" cy="64008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79" y="1572768"/>
            <a:ext cx="475488" cy="475488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Baseline
Classifiers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Naïve Bayes, Logistic Regression, Linear SVC, Random Forest
with BoW &amp; TF-IDF (stemmed &amp; lemmatised)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49240"/>
            <a:ext cx="25146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BC4"/>
                </a:solidFill>
                <a:latin typeface="Calibri"/>
              </a:rPr>
              <a:t>Best: LinSVC + TF-IDF  →  94.5%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32461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8EF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463040"/>
            <a:ext cx="2743200" cy="49377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63040"/>
            <a:ext cx="2743200" cy="6400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72768"/>
            <a:ext cx="475488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5727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5727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Sentence
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3317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all-MiniLM-L6-v2 (384-d) then DistilBERT (768-d)
Dense vectors fed into same sklearn classifiers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5349240"/>
            <a:ext cx="25146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394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EFF"/>
                </a:solidFill>
                <a:latin typeface="Calibri"/>
              </a:rPr>
              <a:t>DistilBERT Emb + LR  →  96.0%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461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8EF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63040"/>
            <a:ext cx="2743200" cy="49377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463040"/>
            <a:ext cx="274320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1572768"/>
            <a:ext cx="475488" cy="47548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15727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5727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DistilBERT
Fine-Tuning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3317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Full fine-tune on training set
HuggingFace Trainer, AdamW, EarlyStopping, 2 epochs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349240"/>
            <a:ext cx="25146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394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FT alone  →  99.61%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2461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8EFF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463040"/>
            <a:ext cx="2743200" cy="49377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463040"/>
            <a:ext cx="274320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1572768"/>
            <a:ext cx="475488" cy="47548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15727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15727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Ensemble
(Final)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3317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DistilBERT Emb + FT predictions combined with
Calibrated LinSVC &amp; Logistic Regression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5349240"/>
            <a:ext cx="25146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5394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Ensemble  →  99.61%  (most stable)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EMBEDDING +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DistilBERT: Two Roles in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507492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6400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F"/>
                </a:solidFill>
                <a:latin typeface="Calibri"/>
              </a:rPr>
              <a:t>Role 1 — Static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Model: distilbert-base-uncased (frozen weights)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Tokenise with padding + truncation (max_length=128)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Extract last_hidden_state → mean across token dim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Output: (N, 768) dense numpy array per split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Wrapped in csr_matrix for sklearn compatibility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Fed into: Logistic Regression, LinearSVC, Random Forest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768-d vectors capture semantic meaning unseen by BoW/TF-IDF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00" cy="507492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8640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Calibri"/>
              </a:rPr>
              <a:t>Role 2 — 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1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Model: distilbert-base-uncased (weights updated)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Trainer: HuggingFace Trainer + AdamW optimiser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Batch size 16 train / 32 eval  |  2 epochs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EarlyStopping on eval loss  |  load_best_model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Seed 42 (0.3781) &amp; Seed 0 (0.3229) — best: Seed 42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Produces soft probability scores per class</a:t>
            </a:r>
          </a:p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  • These scores ensembled with embedding model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EMBEDDING + FT + ENSEMBLING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Final Ensemble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22860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64008" cy="914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8EFF"/>
                </a:solidFill>
                <a:latin typeface="Calibri"/>
              </a:rPr>
              <a:t>DistilBERT
Embeddings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31920"/>
            <a:ext cx="22860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64008" cy="914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DE80"/>
                </a:solidFill>
                <a:latin typeface="Calibri"/>
              </a:rPr>
              <a:t>DistilBERT
Fine-Tuned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560320"/>
            <a:ext cx="22860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560320"/>
            <a:ext cx="64008" cy="914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6974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8EFF"/>
                </a:solidFill>
                <a:latin typeface="Calibri"/>
              </a:rPr>
              <a:t>Calibrated
Linear SVC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931920"/>
            <a:ext cx="22860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3931920"/>
            <a:ext cx="64008" cy="914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069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DE80"/>
                </a:solidFill>
                <a:latin typeface="Calibri"/>
              </a:rPr>
              <a:t>Logistic
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154680"/>
            <a:ext cx="22860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3154680"/>
            <a:ext cx="64008" cy="914400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855"/>
                </a:solidFill>
                <a:latin typeface="Calibri"/>
              </a:rPr>
              <a:t>Soft Vote
Ensemble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3154680"/>
            <a:ext cx="2286000" cy="9144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3154680"/>
            <a:ext cx="6400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Final
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C4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389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C4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611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C4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611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C4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77840"/>
            <a:ext cx="2560320" cy="109728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Validation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9618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DE80"/>
                </a:solidFill>
                <a:latin typeface="Calibri"/>
              </a:rPr>
              <a:t>99.61%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5577840"/>
            <a:ext cx="2560320" cy="109728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712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59618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DE80"/>
                </a:solidFill>
                <a:latin typeface="Calibri"/>
              </a:rPr>
              <a:t>0.99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577840"/>
            <a:ext cx="2560320" cy="109728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59618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DE80"/>
                </a:solidFill>
                <a:latin typeface="Calibri"/>
              </a:rPr>
              <a:t>0.99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5577840"/>
            <a:ext cx="2560320" cy="109728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2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ROC-AUC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59618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DE80"/>
                </a:solidFill>
                <a:latin typeface="Calibri"/>
              </a:rPr>
              <a:t>0.9961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C4"/>
                </a:solidFill>
                <a:latin typeface="Calibri"/>
              </a:rPr>
              <a:t>ensemble: DistilBERT seed 0 + Calibrated LinearSVC forming rate 2e-5, batch size 16, weight decay 2  +  row_we TF-IDF + row_we TF-IDF + self-voting with DistilBERT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0" cy="22860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73152" cy="2286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7335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F"/>
                </a:solidFill>
                <a:latin typeface="Calibri"/>
              </a:rPr>
              <a:t>Raw text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Stopword removal, stemming &amp; lemmatisation all hurt performance.
News headlines are already short — every word carries signal.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00" cy="22860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2286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7335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Calibri"/>
              </a:rPr>
              <a:t>Embeddings bridge 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945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Dense DistilBERT vectors (768-d) outperform sparse BoW/TF-IDF
because they encode semantic similarity, not just word 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5486400" cy="22860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73152" cy="2286000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79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855"/>
                </a:solidFill>
                <a:latin typeface="Calibri"/>
              </a:rPr>
              <a:t>Fine-tuning is the biggest jump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8006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Going from static embeddings (~96%) to fine-tuned DistilBERT
(99.61%) was the single largest accuracy gain in the project.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73152" cy="2286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279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Ensembling adds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8006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Combining FT probabilities with calibrated classical models
stabilises predictions and maintains peak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54864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Calibri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Challenges Faced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1600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55"/>
                </a:solidFill>
                <a:latin typeface="Calibri"/>
              </a:rPr>
              <a:t>Compute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DistilBERT fine-tuning required GPU. Ran on Google Colab T4; batch size tuned to avoid OOM errors. Encoding 34k samples took ~20 min per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1600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55"/>
                </a:solidFill>
                <a:latin typeface="Calibri"/>
              </a:rPr>
              <a:t>Hyperparameter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Learning rate, batch size, epochs and seeds all affected FT outcome. Seed 42 (weight decay 0.3781) outperformed Seed 0 (0.3229). Systematic search was time-consuming.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5486400" cy="1600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486400" cy="54864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55"/>
                </a:solidFill>
                <a:latin typeface="Calibri"/>
              </a:rPr>
              <a:t>Preprocessing Trade-offs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Spent time evaluating stem/lemm/stopwords pipelines only to find raw text superior. Insight: transformer models need rich input; classical NLP preprocessing hurts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5486400" cy="1600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486400" cy="54864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55"/>
                </a:solidFill>
                <a:latin typeface="Calibri"/>
              </a:rPr>
              <a:t>Ensembling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Raw SVC decision scores needed CalibratedClassifierCV to produce valid probabilities before soft voting. Uncalibrated scores gave misleading ensemble weights.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5486400" cy="1600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5486400" cy="54864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120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55"/>
                </a:solidFill>
                <a:latin typeface="Calibri"/>
              </a:rPr>
              <a:t>Metric 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23559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Early experiments only tracked accuracy. Adding precision, recall, ROC-AUC and confusion matrices mid-project required re-running all baselines.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120640"/>
            <a:ext cx="5486400" cy="160020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120640"/>
            <a:ext cx="5486400" cy="54864"/>
          </a:xfrm>
          <a:prstGeom prst="rect">
            <a:avLst/>
          </a:prstGeom>
          <a:solidFill>
            <a:srgbClr val="FFB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2120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55"/>
                </a:solidFill>
                <a:latin typeface="Calibri"/>
              </a:rPr>
              <a:t>Data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23559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Special characters (‚ encoding artefacts) and metadata tags (video/picture) in parentheses vs brackets needed different cleaning for train vs test 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